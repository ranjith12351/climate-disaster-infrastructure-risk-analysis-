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Hazard index</c:v>
                </c:pt>
              </c:strCache>
            </c:strRef>
          </c:tx>
          <c:spPr>
            <a:solidFill>
              <a:srgbClr val="E024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Darjeeling</c:v>
                  </c:pt>
                  <c:pt idx="1">
                    <c:v>Chamoli</c:v>
                  </c:pt>
                  <c:pt idx="2">
                    <c:v>Bhubaneswar</c:v>
                  </c:pt>
                  <c:pt idx="3">
                    <c:v>Colombo</c:v>
                  </c:pt>
                  <c:pt idx="4">
                    <c:v>Ahmedabad</c:v>
                  </c:pt>
                  <c:pt idx="5">
                    <c:v>Chennai</c:v>
                  </c:pt>
                  <c:pt idx="6">
                    <c:v>Dadeldhura</c:v>
                  </c:pt>
                  <c:pt idx="7">
                    <c:v>Coimbatore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92.67</c:v>
                </c:pt>
                <c:pt idx="1">
                  <c:v>58.05</c:v>
                </c:pt>
                <c:pt idx="2">
                  <c:v>50.99</c:v>
                </c:pt>
                <c:pt idx="3">
                  <c:v>38.8</c:v>
                </c:pt>
                <c:pt idx="4">
                  <c:v>34.06</c:v>
                </c:pt>
                <c:pt idx="5">
                  <c:v>19.16</c:v>
                </c:pt>
                <c:pt idx="6">
                  <c:v>19.13</c:v>
                </c:pt>
                <c:pt idx="7">
                  <c:v>17.99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731520"/>
            <a:ext cx="4572000" cy="4572000"/>
          </a:xfrm>
          <a:prstGeom prst="ellipse">
            <a:avLst/>
          </a:prstGeom>
          <a:solidFill>
            <a:srgbClr val="E0245E">
              <a:alpha val="25000"/>
            </a:srgbClr>
          </a:solidFill>
          <a:ln w="12700">
            <a:solidFill>
              <a:srgbClr val="E024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194560"/>
            <a:ext cx="3291840" cy="3291840"/>
          </a:xfrm>
          <a:prstGeom prst="ellipse">
            <a:avLst/>
          </a:prstGeom>
          <a:solidFill>
            <a:srgbClr val="7BE86B">
              <a:alpha val="18000"/>
            </a:srgbClr>
          </a:solidFill>
          <a:ln w="12700">
            <a:solidFill>
              <a:srgbClr val="7BE86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Disaster &amp; Infrastructure Risk Analysis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B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Power BI dashboard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Nepal · Bangladesh · Pakistan · Sri Lanka   |   2015 – 2024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covers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linked pages, filterable by disaster type, year, country, state and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Overview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disasters, people affected, hazard index, economic loss, fatalities; trends, types and district hotspots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783080"/>
            <a:ext cx="548640" cy="548640"/>
          </a:xfrm>
          <a:prstGeom prst="ellipse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Vulnerability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at risk, replacement, recovery and damage cost; criticality by country and asset 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 &amp; Population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/ urban population, households, fatalities and economic loss by state or region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overview page, all countries and years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0125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disasters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70125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45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370125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hazard index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₹60bn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016045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1089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291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140K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016045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fatalities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10896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200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5661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and fatalities are the outcome measures; hazard index and disaster count show exposure.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Disasters over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trend, 2015 – 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bar and the sharpest point on the trend 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2019–20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514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point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settles to its lowest stretch of the decade.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3566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smaller peak before easing through 2024.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0" y="1463040"/>
            <a:ext cx="3017520" cy="3063240"/>
          </a:xfrm>
          <a:prstGeom prst="roundRect">
            <a:avLst>
              <a:gd name="adj" fmla="val 3636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0574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frequency is cyclical, not steadily rising. Preparedness planning should expect recurring peaks rather than a one-off spike.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Disasters by type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from most to least frequent (bar length is relative)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1399032"/>
            <a:ext cx="4206240" cy="201168"/>
          </a:xfrm>
          <a:prstGeom prst="rect">
            <a:avLst/>
          </a:prstGeom>
          <a:solidFill>
            <a:srgbClr val="E0245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779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705356"/>
            <a:ext cx="3364992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84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011680"/>
            <a:ext cx="3364992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05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318004"/>
            <a:ext cx="3238805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Surge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624328"/>
            <a:ext cx="3238805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032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Erosion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930652"/>
            <a:ext cx="3070555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3236976"/>
            <a:ext cx="2944368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158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3543300"/>
            <a:ext cx="2649931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40280" y="3849624"/>
            <a:ext cx="2439619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1285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40280" y="4155948"/>
            <a:ext cx="2229307" cy="201168"/>
          </a:xfrm>
          <a:prstGeom prst="rect">
            <a:avLst/>
          </a:prstGeom>
          <a:solidFill>
            <a:srgbClr val="8C2A52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137160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Drought leads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196596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Slow-onset hazards (drought, cold wave) sit alongside fast events like landslides and floods at the top.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hazard hotspots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hazard index by district (sample shown on dashboard)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463040"/>
            <a:ext cx="2377440" cy="3017520"/>
          </a:xfrm>
          <a:prstGeom prst="roundRect">
            <a:avLst>
              <a:gd name="adj" fmla="val 4615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hotspots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205740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Darjeeling, Chamoli and Bhubaneswar carry the highest hazard scores, and Bhubaneswar and Chamoli also appear in the Catastrophic severity band.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vulnerability: key figures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at risk and what damage and recovery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41778"/>
            <a:ext cx="37490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infrastructure assets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645920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₹61bn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341778"/>
            <a:ext cx="37490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replacement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246120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₹29bn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941978"/>
            <a:ext cx="37490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246120"/>
            <a:ext cx="3749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₹24bn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41978"/>
            <a:ext cx="37490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damage cost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infrastructure charts show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7BE86B"/>
          </a:solidFill>
          <a:ln w="12700">
            <a:solidFill>
              <a:srgbClr val="7BE8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broad, not concentrated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spread fairly evenly across the ten asset types (airports, bridges, dams, hospitals, substations, rail, roads, schools, telecom).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7BE86B"/>
          </a:solidFill>
          <a:ln w="12700">
            <a:solidFill>
              <a:srgbClr val="7BE8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7744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populations depend on these assets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population per infrastructure type sits roughly between 320M and 380M.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7BE86B"/>
          </a:solidFill>
          <a:ln w="12700">
            <a:solidFill>
              <a:srgbClr val="7BE8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6616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E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is concentrated in India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by far the most assets in the criticality view; Nepal, Bangladesh, Pakistan and Sri Lanka are much smaller.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impact &amp; population exposure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view by state /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36953"/>
            <a:ext cx="16916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54480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1bn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36953"/>
            <a:ext cx="16916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population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54480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2bn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36953"/>
            <a:ext cx="16916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54480"/>
            <a:ext cx="16916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440M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36953"/>
            <a:ext cx="16916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Fatalities trend down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Fatalities by infrastructure type fall from about 140K to about 110K across the ranked types.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build state by state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 by state adds up in roughly equal steps to a total of about 0.52T.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28346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 fluctuate yearly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342900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households by year sit near 40–50M (2016–2024) with no steady climb.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disaster resilience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suggests we prioritise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the hotspots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early warning and land-use controls on Darjeeling, Chamoli and Bhubaneswar.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the top hazards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programmes around drought, cold wave, landslide and flood, the most frequent types.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critical assets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659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Critical and High assets first, starting in India where criticality is concentrated.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funding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value (₹61bn) far exceeds recovery spend (₹29bn); fund resilience before events.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exposed people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rural and urban communities with shelters, drills and insurance to keep fatalities falling.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33345"/>
          </a:solidFill>
          <a:ln w="12700">
            <a:solidFill>
              <a:srgbClr val="1F4A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2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E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data across borders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common risk data across the five countries to coordinate response and planning.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Disaster &amp; Infrastructure Risk Analysis</dc:title>
  <dc:subject>PptxGenJS Presentation</dc:subject>
  <dc:creator>PptxGenJS</dc:creator>
  <cp:lastModifiedBy>PptxGenJS</cp:lastModifiedBy>
  <cp:revision>1</cp:revision>
  <dcterms:created xsi:type="dcterms:W3CDTF">2026-09-24T04:15:59Z</dcterms:created>
  <dcterms:modified xsi:type="dcterms:W3CDTF">2026-09-24T04:15:59Z</dcterms:modified>
</cp:coreProperties>
</file>